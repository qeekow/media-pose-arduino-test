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method check, sent before any full measurements run. Design reasoning is in the repo: ADR 0002 (why only the three Pose Landmarker variants), ADR 0003 (accuracy against Heavy as Reference landmarks, not ground truth), ADR 0004 (self-chosen Pass criteria). The natural next step for true accuracy is a labelled dataset such as Penn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2800">
                <a:solidFill>
                  <a:srgbClr val="1F2937"/>
                </a:solidFill>
                <a:latin typeface="Calibri"/>
              </a:rPr>
              <a:t>We will compare three MediaPipe pose models on the Arduino UNO Q, first on video, then on a live webcam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3606698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80744"/>
            <a:ext cx="3240938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0B5C8A"/>
                </a:solidFill>
                <a:latin typeface="Calibri"/>
              </a:rPr>
              <a:t>WHAT IS COMPARED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F2937"/>
                </a:solidFill>
                <a:latin typeface="Calibri"/>
              </a:rPr>
              <a:t>Pose Landmarker Lite, Full and Heavy.</a:t>
            </a:r>
            <a:r>
              <a:rPr sz="1300">
                <a:solidFill>
                  <a:srgbClr val="1F2937"/>
                </a:solidFill>
                <a:latin typeface="Calibri"/>
              </a:rPr>
              <a:t> Same 33 landmarks, different size and accuracy.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F2937"/>
                </a:solidFill>
                <a:latin typeface="Calibri"/>
              </a:rPr>
              <a:t>Left out on purpose:</a:t>
            </a:r>
          </a:p>
          <a:p>
            <a:pPr marL="201168" indent="-201168"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	The older </a:t>
            </a:r>
            <a:r>
              <a:rPr sz="1300">
                <a:solidFill>
                  <a:srgbClr val="1F2937"/>
                </a:solidFill>
                <a:latin typeface="Consolas"/>
              </a:rPr>
              <a:t>mp.solutions.pose</a:t>
            </a:r>
            <a:r>
              <a:rPr sz="1300">
                <a:solidFill>
                  <a:srgbClr val="1F2937"/>
                </a:solidFill>
                <a:latin typeface="Calibri"/>
              </a:rPr>
              <a:t>: unsupported since 2023 and has no build for the Board's Python 3.13.</a:t>
            </a:r>
          </a:p>
          <a:p>
            <a:pPr marL="201168" indent="-201168"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	Arduino's PoseNet brick: not MediaPipe, 17 keypoints, restricted to the VENTUNO Q.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2498" y="1234440"/>
            <a:ext cx="3606698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75378" y="1380744"/>
            <a:ext cx="3240938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0B5C8A"/>
                </a:solidFill>
                <a:latin typeface="Calibri"/>
              </a:rPr>
              <a:t>TWO PHASES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F2937"/>
                </a:solidFill>
                <a:latin typeface="Calibri"/>
              </a:rPr>
              <a:t>1. Video phase.</a:t>
            </a:r>
            <a:r>
              <a:rPr sz="1300">
                <a:solidFill>
                  <a:srgbClr val="1F2937"/>
                </a:solidFill>
                <a:latin typeface="Calibri"/>
              </a:rPr>
              <a:t> Every variant runs on the Board over the same five stock Clips: front view, side view, fast movement, far away or partly hidden, empty room. Each pairing runs 3 times.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F2937"/>
                </a:solidFill>
                <a:latin typeface="Calibri"/>
              </a:rPr>
              <a:t>2. Webcam phase.</a:t>
            </a:r>
            <a:r>
              <a:rPr sz="1300">
                <a:solidFill>
                  <a:srgbClr val="1F2937"/>
                </a:solidFill>
                <a:latin typeface="Calibri"/>
              </a:rPr>
              <a:t> Only variants that pass move on to the Logitech Brio 105 at 1280x720: three 60 second sessions each.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B6573"/>
                </a:solidFill>
                <a:latin typeface="Calibri"/>
              </a:rPr>
              <a:t>If no variant passes, that is the finding, and the webcam demo runs Lite only, labelled as-is.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7796" y="1234440"/>
            <a:ext cx="3606698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0676" y="1380744"/>
            <a:ext cx="3240938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0B5C8A"/>
                </a:solidFill>
                <a:latin typeface="Calibri"/>
              </a:rPr>
              <a:t>WHAT WE MEASURE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F2937"/>
                </a:solidFill>
                <a:latin typeface="Calibri"/>
              </a:rPr>
              <a:t>Speed:</a:t>
            </a:r>
            <a:r>
              <a:rPr sz="1300">
                <a:solidFill>
                  <a:srgbClr val="1F2937"/>
                </a:solidFill>
                <a:latin typeface="Calibri"/>
              </a:rPr>
              <a:t> FPS, average and slowest-5% frame time, CPU, RAM, temperature.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F2937"/>
                </a:solidFill>
                <a:latin typeface="Calibri"/>
              </a:rPr>
              <a:t>Quality:</a:t>
            </a:r>
            <a:r>
              <a:rPr sz="1300">
                <a:solidFill>
                  <a:srgbClr val="1F2937"/>
                </a:solidFill>
                <a:latin typeface="Calibri"/>
              </a:rPr>
              <a:t> PCK@0.2, detection rate, jitter.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5B6573"/>
                </a:solidFill>
                <a:latin typeface="Calibri"/>
              </a:rPr>
              <a:t>The first 30 frames of every Run are dropped as warm-up.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13632"/>
            <a:ext cx="3606698" cy="2450592"/>
          </a:xfrm>
          <a:prstGeom prst="rect">
            <a:avLst/>
          </a:prstGeom>
          <a:solidFill>
            <a:srgbClr val="FFF7ED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59936"/>
            <a:ext cx="3240938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HOW ACCURACY IS SCORED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F2937"/>
                </a:solidFill>
                <a:latin typeface="Calibri"/>
              </a:rPr>
              <a:t>Accuracy is measured against Heavy running on the laptop, not against hand-labelled ground truth.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Those Reference landmarks are a stand-in. PCK@0.2 shows how closely a variant agrees with Heavy, so Heavy on the Board scores close to 100% by construction.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2498" y="3913632"/>
            <a:ext cx="3606698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5378" y="4059936"/>
            <a:ext cx="3240938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0B5C8A"/>
                </a:solidFill>
                <a:latin typeface="Calibri"/>
              </a:rPr>
              <a:t>PASS CRITERIA FOR THE WEBCAM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On the Board, across all Clips:</a:t>
            </a:r>
          </a:p>
          <a:p>
            <a:pPr marL="201168" indent="-201168"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	Average at least </a:t>
            </a:r>
            <a:r>
              <a:rPr b="1" sz="1300">
                <a:solidFill>
                  <a:srgbClr val="1F2937"/>
                </a:solidFill>
                <a:latin typeface="Calibri"/>
              </a:rPr>
              <a:t>10 FPS</a:t>
            </a:r>
          </a:p>
          <a:p>
            <a:pPr marL="201168" indent="-201168"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	Slowest 5% of frames each </a:t>
            </a:r>
            <a:r>
              <a:rPr b="1" sz="1300">
                <a:solidFill>
                  <a:srgbClr val="1F2937"/>
                </a:solidFill>
                <a:latin typeface="Calibri"/>
              </a:rPr>
              <a:t>150 ms or less</a:t>
            </a:r>
          </a:p>
          <a:p>
            <a:pPr marL="201168" indent="-201168"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	Person found in at least </a:t>
            </a:r>
            <a:r>
              <a:rPr b="1" sz="1300">
                <a:solidFill>
                  <a:srgbClr val="1F2937"/>
                </a:solidFill>
                <a:latin typeface="Calibri"/>
              </a:rPr>
              <a:t>90%</a:t>
            </a:r>
            <a:r>
              <a:rPr sz="1300">
                <a:solidFill>
                  <a:srgbClr val="1F2937"/>
                </a:solidFill>
                <a:latin typeface="Calibri"/>
              </a:rPr>
              <a:t> of frames in Clips that contain one</a:t>
            </a:r>
          </a:p>
          <a:p>
            <a:pPr marL="201168" indent="-201168"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	</a:t>
            </a:r>
            <a:r>
              <a:rPr b="1" sz="1300">
                <a:solidFill>
                  <a:srgbClr val="1F2937"/>
                </a:solidFill>
                <a:latin typeface="Calibri"/>
              </a:rPr>
              <a:t>No crashes</a:t>
            </a:r>
            <a:r>
              <a:rPr sz="1300">
                <a:solidFill>
                  <a:srgbClr val="1F2937"/>
                </a:solidFill>
                <a:latin typeface="Calibri"/>
              </a:rPr>
              <a:t> or out-of-memory Runs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1F2937"/>
                </a:solidFill>
                <a:latin typeface="Calibri"/>
              </a:rPr>
              <a:t>We chose these ourselves</a:t>
            </a:r>
            <a:r>
              <a:rPr sz="1300">
                <a:solidFill>
                  <a:srgbClr val="1F2937"/>
                </a:solidFill>
                <a:latin typeface="Calibri"/>
              </a:rPr>
              <a:t>, not from a standard. They can change if you name other targets.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3913632"/>
            <a:ext cx="3606698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4059936"/>
            <a:ext cx="3240938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0B5C8A"/>
                </a:solidFill>
                <a:latin typeface="Calibri"/>
              </a:rPr>
              <a:t>LAPTOP BASELINE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All three variants also run on the laptop over the same Clips and are shown next to the Board's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400">
                <a:solidFill>
                  <a:srgbClr val="0B5C8A"/>
                </a:solidFill>
                <a:latin typeface="Calibri"/>
              </a:rPr>
              <a:t>Feedback wanted before we run it.</a:t>
            </a:r>
            <a:r>
              <a:rPr sz="1400">
                <a:solidFill>
                  <a:srgbClr val="0B5C8A"/>
                </a:solidFill>
                <a:latin typeface="Calibri"/>
              </a:rPr>
              <a:t> Are these Pass criteria the right bar? Is Heavy an acceptable reference? Is anything missing from the comparison?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